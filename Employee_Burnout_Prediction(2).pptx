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26.xml"/><Relationship Id="rId9" Type="http://schemas.openxmlformats.org/officeDocument/2006/relationships/slide" Target="slides/slide27.xml"/><Relationship Id="rId10" Type="http://schemas.openxmlformats.org/officeDocument/2006/relationships/slide" Target="slides/slide2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02C39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Burnout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system that detects employees at risk of burnout before it's too late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50292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 •  Digital Egypt Pioneers Initiative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contributors, one prediction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2057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Walaa Omar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9304" y="3840480"/>
            <a:ext cx="640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7764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89504" y="169164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20574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80944" y="32461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Esraa Sameh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30168" y="3840480"/>
            <a:ext cx="640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397764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AdaBoost,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GBoost, XGBoost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169164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2057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21808" y="32461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Ziad Mohamed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71032" y="3840480"/>
            <a:ext cx="640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397764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71232" y="169164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9016" y="20574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129016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62672" y="32461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Mahmoud Fawzy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11896" y="3840480"/>
            <a:ext cx="640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08392" y="397764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12096" y="169164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2F7F6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69880" y="2057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988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03536" y="32461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Youssef Tarek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652760" y="3840480"/>
            <a:ext cx="640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9256" y="397764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companies lose valuable employees to psychological burnout —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warning signs are usually noticed only after it's too late.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8152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3522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develops gradually and is easy to overlook in daily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2102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often lack a structured way to monitor employee wellbeing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5312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0682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burnout is visible, resignation or performance loss has already begun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463040"/>
            <a:ext cx="4480560" cy="4206240"/>
          </a:xfrm>
          <a:prstGeom prst="roundRect">
            <a:avLst>
              <a:gd name="adj" fmla="val 3043"/>
            </a:avLst>
          </a:prstGeom>
          <a:solidFill>
            <a:srgbClr val="013A40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19202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36092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 too late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35661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HR processes catch burnout only after resignations, sick leave, or performance drops — not before.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system that flags at-risk employees early, before burnout takes hold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834640" cy="2377440"/>
          </a:xfrm>
          <a:prstGeom prst="roundRect">
            <a:avLst>
              <a:gd name="adj" fmla="val 5385"/>
            </a:avLst>
          </a:prstGeom>
          <a:solidFill>
            <a:srgbClr val="F2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5603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Workload, fatigue,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tenure...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67328" y="3337560"/>
            <a:ext cx="649224" cy="274320"/>
          </a:xfrm>
          <a:prstGeom prst="rightArrow">
            <a:avLst/>
          </a:prstGeom>
          <a:solidFill>
            <a:srgbClr val="5B7A7C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86000"/>
            <a:ext cx="2834640" cy="2377440"/>
          </a:xfrm>
          <a:prstGeom prst="roundRect">
            <a:avLst>
              <a:gd name="adj" fmla="val 5385"/>
            </a:avLst>
          </a:prstGeom>
          <a:solidFill>
            <a:srgbClr val="F2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5603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Prediction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burnout patterns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70648" y="3337560"/>
            <a:ext cx="649224" cy="274320"/>
          </a:xfrm>
          <a:prstGeom prst="rightArrow">
            <a:avLst/>
          </a:prstGeom>
          <a:solidFill>
            <a:srgbClr val="5B7A7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286000"/>
            <a:ext cx="2834640" cy="2377440"/>
          </a:xfrm>
          <a:prstGeom prst="roundRect">
            <a:avLst>
              <a:gd name="adj" fmla="val 5385"/>
            </a:avLst>
          </a:prstGeom>
          <a:solidFill>
            <a:srgbClr val="F2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25603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causes &amp;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mix of regression &amp; ensemble models — Linear, Tree-based, Boosting &amp; more — to maximize prediction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Burnout Analysis — real HR records power the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56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22,750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50792" y="16916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4187952" y="1856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87952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52944" y="16916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7690104" y="1856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 Rate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690104" y="2532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(0–1)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groups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977640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7880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70632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5224" y="3977640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2907792" y="417880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Setup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07792" y="45720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Type, WFH Setup Available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92624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157216" y="3977640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129784" y="417880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9784" y="45720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Designation, Resource Allocation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14616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/>
        </p:spPr>
      </p:sp>
      <p:sp>
        <p:nvSpPr>
          <p:cNvPr id="27" name="Shape 25"/>
          <p:cNvSpPr/>
          <p:nvPr/>
        </p:nvSpPr>
        <p:spPr>
          <a:xfrm>
            <a:off x="7379208" y="3977640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351776" y="417880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51776" y="45720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Fatigue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36608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3977640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9573768" y="417880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73768" y="45720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Joining → Year / Month / Day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HR records into a model-ready 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2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214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21214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Fatigue Score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0792" y="201168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2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1214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22392" y="21214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52944" y="201168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2F7F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35824" y="21214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24544" y="21214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(Burn Rate) — dropped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2596896" cy="2880360"/>
          </a:xfrm>
          <a:prstGeom prst="roundRect">
            <a:avLst>
              <a:gd name="adj" fmla="val 4225"/>
            </a:avLst>
          </a:prstGeom>
          <a:solidFill>
            <a:srgbClr val="013A4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7048" y="3611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527048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" y="43891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Values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5029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Resource Allocation &amp; Mental Fatigue Score with the median; dropped rows with no Burn Rate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74136" y="3337560"/>
            <a:ext cx="2596896" cy="2880360"/>
          </a:xfrm>
          <a:prstGeom prst="roundRect">
            <a:avLst>
              <a:gd name="adj" fmla="val 4225"/>
            </a:avLst>
          </a:prstGeom>
          <a:solidFill>
            <a:srgbClr val="013A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2544" y="3611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352544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8728" y="43891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575304" y="5029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full dataset for duplicate rows and removed any found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3337560"/>
            <a:ext cx="2596896" cy="2880360"/>
          </a:xfrm>
          <a:prstGeom prst="roundRect">
            <a:avLst>
              <a:gd name="adj" fmla="val 4225"/>
            </a:avLst>
          </a:prstGeom>
          <a:solidFill>
            <a:srgbClr val="013A40"/>
          </a:solidFill>
          <a:ln/>
        </p:spPr>
      </p:sp>
      <p:sp>
        <p:nvSpPr>
          <p:cNvPr id="26" name="Shape 24"/>
          <p:cNvSpPr/>
          <p:nvPr/>
        </p:nvSpPr>
        <p:spPr>
          <a:xfrm>
            <a:off x="7178040" y="36118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64224" y="43891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Employee ID; split Date of Joining into Year, Month, and Day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25128" y="3337560"/>
            <a:ext cx="2596896" cy="2880360"/>
          </a:xfrm>
          <a:prstGeom prst="roundRect">
            <a:avLst>
              <a:gd name="adj" fmla="val 4225"/>
            </a:avLst>
          </a:prstGeom>
          <a:solidFill>
            <a:srgbClr val="013A4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03536" y="3611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03536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89720" y="43891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226296" y="5029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Gender, Company Type &amp; WFH Setup Available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3292B"/>
                </a:solidFill>
                <a:latin typeface="Cambria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Visualizing distributions and relationships before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40000" cy="16002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Distributions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C9DDDB"/>
                </a:solidFill>
                <a:latin typeface="Calibri"/>
              </a:rPr>
              <a:t>Gender, company type, WFH setup, designation, resource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2011680"/>
            <a:ext cx="2540000" cy="16002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Score Distributions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C9DDDB"/>
                </a:solidFill>
                <a:latin typeface="Calibri"/>
              </a:rPr>
              <a:t>Mental fatigue score and burn rate spread across 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1680" y="2011680"/>
            <a:ext cx="2540000" cy="16002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Burn Rate Drivers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C9DDDB"/>
                </a:solidFill>
                <a:latin typeface="Calibri"/>
              </a:rPr>
              <a:t>How gender, company type and WFH availability relate to burnout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011680"/>
            <a:ext cx="2540000" cy="16002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Correlations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C9DDDB"/>
                </a:solidFill>
                <a:latin typeface="Calibri"/>
              </a:rPr>
              <a:t>Scatter plots, correlation matrix and pairplot linking features to burn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01/15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Gender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Pie chart of employee gender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311" y="2148840"/>
            <a:ext cx="3999458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Employees split 52.5% female to 47.5% male — a near-balanced dataset.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No major gender skew, so gender-based patterns seen later aren't driven by sample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02/15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Company 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Count plot: service vs product companies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2" y="2148840"/>
            <a:ext cx="6098036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About 65% of employees work at service-sector companies vs 35% at product companies.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The dataset leans heavily toward service-sector 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03/15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WFH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Count plot: employees with work-from-home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2" y="2148840"/>
            <a:ext cx="6098036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~54% of employees have a WFH setup available vs ~46% who don't.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 fairly even split, useful for comparing burnout across both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04/15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Designation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Histogram of job seniority levels (0–5)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19" y="2148840"/>
            <a:ext cx="6005641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Multi-modal shape: most employees sit at levels 2 and 3 (mid-level roles).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Senior levels (4–5) are rare, so high-seniority burnout patterns rest on fewer data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05/15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Histogram of hours/resources allocated per employee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19" y="2148840"/>
            <a:ext cx="6005641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Allocation clusters around 3–6 units, with a peak near 4.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Very few employees are allocated at the extremes (1–2 or 9–10).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06/15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Mental Fatigue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Histogram with density curve (0–10 scale)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6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19" y="2148840"/>
            <a:ext cx="6005641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Roughly bell-shaped, centered around 5.5–6 with a sharp spike right at 6.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Most employees report moderate-to-high fatigue rather than very low or very high.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07/15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Burn Rate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Histogram of the target variable (0–1 scale)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7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6" y="2148840"/>
            <a:ext cx="5913247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Approximately normal, centered around 0.4–0.5.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 symmetric, well-behaved target distribution — favorable for regression modeling.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08/15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Burn Rate by Gender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Boxplot: burn rate across gender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8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15" y="2148840"/>
            <a:ext cx="5871249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Male employees show a higher median burn rate (~0.50) than female employees (~0.42).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Matches the mild positive correlation (r ≈ 0.15) between gender and burn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09/15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Burn Rate by Company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Boxplot: burn rate across service vs product companies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9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2183"/>
            <a:ext cx="6126480" cy="39966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Medians are almost identical (~0.45–0.46) for both company types.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Company type has virtually no effect on burn rate (r ≈ 0.00).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10/15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Burn Rate by WFH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Boxplot: burn rate with vs without WFH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0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2183"/>
            <a:ext cx="6126480" cy="39966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Employees WITH a WFH setup show a clearly lower median burn rate (~0.39) than those without (~0.54).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The strongest negative correlation in the dataset (r ≈ -0.31) — WFH availability is protective against burnout.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11/15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Mental Fatigue vs Burn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Scatter plot of the two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2183"/>
            <a:ext cx="6126480" cy="39966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 very strong, almost linear positive relationship.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Highest correlation in the dataset (r ≈ 0.90) — mental fatigue is the top predictor of burn rate.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12/15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Resource Allocation vs Burn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Scatter plot of the two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2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2183"/>
            <a:ext cx="6126480" cy="39966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Clear upward trend: more allocated resources/hours track with higher burn rate.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Strong positive correlation (r ≈ 0.83), the second-strongest predictor.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13/15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Burn Rate by Designation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Boxplot: burn rate across seniority levels 0–5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3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2183"/>
            <a:ext cx="6126480" cy="39966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Median burn rate rises steadily with seniority — from ~0.15 at level 0 to ~0.85 at level 5.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Strong positive correlation (r ≈ 0.74): more senior roles report more burnout.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14/15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Correlation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Pairwise correlations across all numeric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4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40" y="2148840"/>
            <a:ext cx="4664199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Burn rate correlates most with Mental Fatigue (0.90), Resource Allocation (0.83) and Designation (0.74).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WFH availability is the only meaningful negative driver (-0.31); company type and joining date are near zero.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EDA  15/15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Pairplot of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Designation, Resource Allocation, Mental Fatigue Score, Burn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55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406" y="2148840"/>
            <a:ext cx="4019267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2011680"/>
            <a:ext cx="44653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94560"/>
            <a:ext cx="4099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Every pair against Burn Rate shows a clear increasing trend, confirming the heatmap.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Designation, Resource Allocation and Mental Fatigue also move together, hinting at overlapping signal for the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3292B"/>
                </a:solidFill>
                <a:latin typeface="Cambria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Turning the cleaned, encoded table into a model-ready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Split Features &amp; Target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Separate predictors (X) from the Burn Rate target, and prepare the test set the same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9565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Feature Inventory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9 numerical features carried into the model; 0 categorical columns remain, since encoding already ran in Step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30490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Scaling Pipeline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A ColumnTransformer applies StandardScaler to every numerical feature before it reaches the model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0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Splitting Features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Predictors (X) are separated from the Burn Rate target before any scaling happens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2600" b="1">
                <a:solidFill>
                  <a:srgbClr val="02C39A"/>
                </a:solidFill>
                <a:latin typeface="Cambria"/>
              </a:rPr>
              <a:t>21,626 × 9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150" b="1">
                <a:solidFill>
                  <a:srgbClr val="BFE3DE"/>
                </a:solidFill>
                <a:latin typeface="Calibri"/>
              </a:rPr>
              <a:t>X_train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BFE3DE"/>
                </a:solidFill>
                <a:latin typeface="Calibri"/>
              </a:rPr>
              <a:t>rows × numerical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9565" y="201168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2600" b="1">
                <a:solidFill>
                  <a:srgbClr val="02C39A"/>
                </a:solidFill>
                <a:latin typeface="Cambria"/>
              </a:rPr>
              <a:t>21,626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150" b="1">
                <a:solidFill>
                  <a:srgbClr val="BFE3DE"/>
                </a:solidFill>
                <a:latin typeface="Calibri"/>
              </a:rPr>
              <a:t>y_train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BFE3DE"/>
                </a:solidFill>
                <a:latin typeface="Calibri"/>
              </a:rPr>
              <a:t>Burn Rate values (the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30490" y="201168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2600" b="1">
                <a:solidFill>
                  <a:srgbClr val="02C39A"/>
                </a:solidFill>
                <a:latin typeface="Cambria"/>
              </a:rPr>
              <a:t>12,250 × 9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150" b="1">
                <a:solidFill>
                  <a:srgbClr val="BFE3DE"/>
                </a:solidFill>
                <a:latin typeface="Calibri"/>
              </a:rPr>
              <a:t>X_test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BFE3DE"/>
                </a:solidFill>
                <a:latin typeface="Calibri"/>
              </a:rPr>
              <a:t>rows × numerical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11095050" cy="160020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72929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Cambria"/>
              </a:rPr>
              <a:t>How the split is built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292B"/>
                </a:solidFill>
                <a:latin typeface="Consolas"/>
              </a:rPr>
              <a:t>X_train = train.drop("Burn Rate", axis=1)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292B"/>
                </a:solidFill>
                <a:latin typeface="Consolas"/>
              </a:rPr>
              <a:t>y_train = train["Burn Rate"]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292B"/>
                </a:solidFill>
                <a:latin typeface="Consolas"/>
              </a:rPr>
              <a:t>X_test  = test.copy()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0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Feature Inventory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0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Every remaining feature is numeric, so one scaler covers the whole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0000"/>
            <a:ext cx="6400800" cy="32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28090"/>
                </a:solidFill>
                <a:latin typeface="Calibri"/>
              </a:rPr>
              <a:t>9 numerical features → numerical_features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000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Designation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6190" y="25000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Resource Allocation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461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Mental Fatigue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190" y="30461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Joining_Year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922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Joining_Month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6190" y="35922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Joining_Day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83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Gender_Male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6190" y="41383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Company Type_Service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84400"/>
            <a:ext cx="3143250" cy="431800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028090"/>
                </a:solidFill>
                <a:latin typeface="Calibri"/>
              </a:rPr>
              <a:t>WFH Setup Available_Yes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90500"/>
            <a:ext cx="6400800" cy="32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i="1">
                <a:solidFill>
                  <a:srgbClr val="5B7A7C"/>
                </a:solidFill>
                <a:latin typeface="Calibri"/>
              </a:rPr>
              <a:t>categorical_features = []  (already one-hot encoded in Step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100000"/>
            <a:ext cx="4465320" cy="41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282880"/>
            <a:ext cx="4099560" cy="38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The scaling pipeline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A ColumnTransformer wraps a single StandardScaler and applies it to all 9 numerical columns.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StandardScaler centers each feature to mean 0 and scales it to unit variance, so no single feature dominates the model just by having a larger range.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No categorical transformer is needed — get_dummies() already turned every category into 0/1 columns during data cleaning.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The fitted preprocessor will be reused inside the model pipeline (Step 4) for both training and inference.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Looks 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indicators feed the prediction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Employee's job level / seniority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169164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892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Allocation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assigned to the employee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1892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Fatigue Score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09560" y="2651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fatigue level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41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Type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 Product-based firm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0" y="384048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041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WFH Availability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343400" y="4800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remote work is offered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80960" y="3840480"/>
            <a:ext cx="3337560" cy="1874520"/>
          </a:xfrm>
          <a:prstGeom prst="roundRect">
            <a:avLst>
              <a:gd name="adj" fmla="val 4878"/>
            </a:avLst>
          </a:prstGeom>
          <a:solidFill>
            <a:srgbClr val="F2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90956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49640" y="4041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Tenure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909560" y="4800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day of joining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Delivers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 for HR &amp;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013A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383280" cy="1097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2402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Percentage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burnout-risk score for each employee, updated as data changes.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013A40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828800"/>
            <a:ext cx="3383280" cy="10972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32120" y="22402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80560" y="3337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Contributing Causes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factors driving that employee's risk — ranked by impact.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013A40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828800"/>
            <a:ext cx="3383280" cy="10972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22402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83880" y="3337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for Management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40233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targeted recommendations to reduce risk before it escalates.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Burnout Prediction  •  NTI Graduation Project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3292B"/>
                </a:solidFill>
                <a:latin typeface="Cambria"/>
              </a:rP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5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Seven regression algorithms trained and validated on the same 80/20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Algorithms Tried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Bagging, AdaBoost, Gradient Boosting, XGBoost, Decision Tree, Random Forest and SVM (SVR)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9565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Validation Setup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80/20 train-validation split; scored with R², MAE, MSE and RMSE on the held-out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30490" y="2400300"/>
            <a:ext cx="3448050" cy="1828800"/>
          </a:xfrm>
          <a:prstGeom prst="roundRect">
            <a:avLst>
              <a:gd name="adj" fmla="val 8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600" b="1">
                <a:solidFill>
                  <a:srgbClr val="5DD8C5"/>
                </a:solidFill>
                <a:latin typeface="Cambria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Best Result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FE3DE"/>
                </a:solidFill>
                <a:latin typeface="Calibri"/>
              </a:rPr>
              <a:t>XGBoost came out on top with R² = 0.9052 and the lowest RMSE (0.0601)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0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Comparing R² Across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5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Higher R² means more of the variance in Burn Rate is explained by the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9342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_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36555"/>
            <a:ext cx="6659880" cy="38479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11440" y="2011680"/>
            <a:ext cx="393192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4320" y="2194560"/>
            <a:ext cx="35661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XGBoost and Gradient Boosting lead the pack (R² ≈ 0.90) — boosting handles this data best.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Random Forest and a single Decision Tree trail close behind, both above 0.89.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Bagging and AdaBoost tie at 0.8842 — weaker than the boosted models here.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SVM (tuned via RandomizedSearchCV) scores lowest at 0.8671, still a solid baseline.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0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Validation Metrics by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5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R², MAE, MSE and RMSE on the held-out validation set, ranked by R²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0000"/>
            <a:ext cx="11095050" cy="457200"/>
          </a:xfrm>
          <a:prstGeom prst="roundRect">
            <a:avLst>
              <a:gd name="adj" fmla="val 15000"/>
            </a:avLst>
          </a:prstGeom>
          <a:solidFill>
            <a:srgbClr val="13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0000"/>
            <a:ext cx="3200000" cy="457200"/>
          </a:xfrm>
          <a:prstGeom prst="rect">
            <a:avLst/>
          </a:prstGeom>
          <a:noFill/>
        </p:spPr>
        <p:txBody>
          <a:bodyPr wrap="none" anchor="ctr" lIns="137160" r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8640" y="2100000"/>
            <a:ext cx="1980000" cy="457200"/>
          </a:xfrm>
          <a:prstGeom prst="rect">
            <a:avLst/>
          </a:prstGeom>
          <a:noFill/>
        </p:spPr>
        <p:txBody>
          <a:bodyPr wrap="none" anchor="ctr" lIns="13716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R²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8640" y="2100000"/>
            <a:ext cx="1980000" cy="457200"/>
          </a:xfrm>
          <a:prstGeom prst="rect">
            <a:avLst/>
          </a:prstGeom>
          <a:noFill/>
        </p:spPr>
        <p:txBody>
          <a:bodyPr wrap="none" anchor="ctr" lIns="13716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640" y="2100000"/>
            <a:ext cx="1980000" cy="457200"/>
          </a:xfrm>
          <a:prstGeom prst="rect">
            <a:avLst/>
          </a:prstGeom>
          <a:noFill/>
        </p:spPr>
        <p:txBody>
          <a:bodyPr wrap="none" anchor="ctr" lIns="13716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88640" y="2100000"/>
            <a:ext cx="1955050" cy="457200"/>
          </a:xfrm>
          <a:prstGeom prst="rect">
            <a:avLst/>
          </a:prstGeom>
          <a:noFill/>
        </p:spPr>
        <p:txBody>
          <a:bodyPr wrap="none" anchor="ctr" lIns="13716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292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BF3DE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292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B8860B"/>
                </a:solidFill>
                <a:latin typeface="Calibri"/>
              </a:rPr>
              <a:t>XGBoost  ★ Best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8640" y="26029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1">
                <a:solidFill>
                  <a:srgbClr val="13292B"/>
                </a:solidFill>
                <a:latin typeface="Calibri"/>
              </a:rPr>
              <a:t>0.9052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8640" y="26029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1">
                <a:solidFill>
                  <a:srgbClr val="13292B"/>
                </a:solidFill>
                <a:latin typeface="Calibri"/>
              </a:rPr>
              <a:t>0.0471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640" y="26029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1">
                <a:solidFill>
                  <a:srgbClr val="13292B"/>
                </a:solidFill>
                <a:latin typeface="Calibri"/>
              </a:rPr>
              <a:t>0.0036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8640" y="260292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1">
                <a:solidFill>
                  <a:srgbClr val="13292B"/>
                </a:solidFill>
                <a:latin typeface="Calibri"/>
              </a:rPr>
              <a:t>0.0601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4864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4864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8640" y="31486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0.9045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8640" y="31486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640" y="31486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0.0036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8640" y="314864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0.0603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9436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9436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8640" y="369436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0.9031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8640" y="369436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0.0474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640" y="369436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0.0037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8640" y="369436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0.0608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4008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4008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Decision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8640" y="424008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0.8977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8640" y="424008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0.0486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640" y="424008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0.0039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640" y="424008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0.0624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78580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8580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Bagging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8640" y="478580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0.8842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8640" y="478580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0.0520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640" y="478580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0.0044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8640" y="478580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0.0664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3152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3152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AdaBoost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8640" y="53315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0.8842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8640" y="53315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0.0520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8640" y="533152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0.0044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8640" y="533152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0.0664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877240"/>
            <a:ext cx="11095050" cy="500000"/>
          </a:xfrm>
          <a:prstGeom prst="roundRect">
            <a:avLst>
              <a:gd name="adj" fmla="val 12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877240"/>
            <a:ext cx="320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l"/>
            <a:r>
              <a:rPr sz="1250" b="1">
                <a:solidFill>
                  <a:srgbClr val="13292B"/>
                </a:solidFill>
                <a:latin typeface="Calibri"/>
              </a:rPr>
              <a:t>SVM (SVR)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8640" y="58772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0.8671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28640" y="58772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0.0541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8640" y="5877240"/>
            <a:ext cx="198000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8640" y="5877240"/>
            <a:ext cx="1955050" cy="500000"/>
          </a:xfrm>
          <a:prstGeom prst="rect">
            <a:avLst/>
          </a:prstGeom>
          <a:noFill/>
        </p:spPr>
        <p:txBody>
          <a:bodyPr wrap="none" anchor="ctr" lIns="137160">
            <a:spAutoFit/>
          </a:bodyPr>
          <a:lstStyle/>
          <a:p>
            <a:pPr algn="ctr"/>
            <a:r>
              <a:rPr sz="1250" b="0">
                <a:solidFill>
                  <a:srgbClr val="13292B"/>
                </a:solidFill>
                <a:latin typeface="Calibri"/>
              </a:rPr>
              <a:t>0.0712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68680"/>
            <a:ext cx="110950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B7A7C"/>
                </a:solidFill>
                <a:latin typeface="Calibri"/>
              </a:rPr>
              <a:t>AdaBoost's printed metrics match Bagging's exactly in the source notebook — worth a re-run to confirm its true score.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028090"/>
                </a:solidFill>
                <a:latin typeface="Calibri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000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3292B"/>
                </a:solidFill>
                <a:latin typeface="Cambria"/>
              </a:rPr>
              <a:t>Which Model Wins?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500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i="1">
                <a:solidFill>
                  <a:srgbClr val="5B7A7C"/>
                </a:solidFill>
                <a:latin typeface="Calibri"/>
              </a:rPr>
              <a:t>Weighing accuracy, error and complexity across the seven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00450" cy="4297680"/>
          </a:xfrm>
          <a:prstGeom prst="roundRect">
            <a:avLst>
              <a:gd name="adj" fmla="val 5000"/>
            </a:avLst>
          </a:prstGeom>
          <a:solidFill>
            <a:srgbClr val="01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2C39A"/>
                </a:solidFill>
                <a:latin typeface="Calibri"/>
              </a:rPr>
              <a:t>★ WINNER</a:t>
            </a:r>
          </a:p>
          <a:p>
            <a:pPr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Cambria"/>
              </a:rPr>
              <a:t>XGBoost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5DD8C5"/>
                </a:solidFill>
                <a:latin typeface="Calibri"/>
              </a:rPr>
              <a:t>R² = 0.9052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BFE3DE"/>
                </a:solidFill>
                <a:latin typeface="Calibri"/>
              </a:rPr>
              <a:t>RMSE = 0.0601  ·  MAE = 0.0471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150">
                <a:solidFill>
                  <a:srgbClr val="BFE3DE"/>
                </a:solidFill>
                <a:latin typeface="Calibri"/>
              </a:rPr>
              <a:t>Best accuracy of all seven models, with the lowest prediction error on unseen employees — the clear choice for the final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7690" y="2011680"/>
            <a:ext cx="7265670" cy="4297680"/>
          </a:xfrm>
          <a:prstGeom prst="roundRect">
            <a:avLst>
              <a:gd name="adj" fmla="val 3500"/>
            </a:avLst>
          </a:prstGeom>
          <a:solidFill>
            <a:srgbClr val="F2F7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0570" y="2194560"/>
            <a:ext cx="689991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Cambria"/>
              </a:rPr>
              <a:t>How the models compare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Boosting wins: XGBoost and Gradient Boosting (both R² ≈ 0.90) build trees sequentially, each one correcting the last — that's what pulls them ahead here.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XGBoost edges out Gradient Boosting on every metric, but the gap is tiny (ΔR² = 0.0007) — either would be a safe production choice.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Random Forest and a single tuned Decision Tree land just behind, proving tree-based models suit this tabular HR data well.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Bagging and AdaBoost underperform the other ensembles here, and SVM — despite hyperparameter tuning — trails the whole group.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3292B"/>
                </a:solidFill>
                <a:latin typeface="Calibri"/>
              </a:rPr>
              <a:t>●  Recommendation: ship XGBoost as the primary model, keep Gradient Boosting as a close backup/ensemble candidate.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2026-08-03T17:13:29Z</dcterms:created>
  <dcterms:modified xsi:type="dcterms:W3CDTF">2026-08-03T17:13:29Z</dcterms:modified>
</cp:coreProperties>
</file>